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866414-1508-784A-82D5-F069FACD3066}" v="2" dt="2026-09-24T21:08:36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37"/>
    <p:restoredTop sz="94658"/>
  </p:normalViewPr>
  <p:slideViewPr>
    <p:cSldViewPr snapToGrid="0">
      <p:cViewPr varScale="1">
        <p:scale>
          <a:sx n="108" d="100"/>
          <a:sy n="108" d="100"/>
        </p:scale>
        <p:origin x="22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gisella Giorgiani" userId="a7fe563e-347f-468d-94db-89d821bb8dc3" providerId="ADAL" clId="{196FAF26-15D0-54FD-9E98-CD296B6F88F1}"/>
    <pc:docChg chg="custSel modSld">
      <pc:chgData name="Mariagisella Giorgiani" userId="a7fe563e-347f-468d-94db-89d821bb8dc3" providerId="ADAL" clId="{196FAF26-15D0-54FD-9E98-CD296B6F88F1}" dt="2026-09-24T21:08:38.467" v="17" actId="26606"/>
      <pc:docMkLst>
        <pc:docMk/>
      </pc:docMkLst>
      <pc:sldChg chg="addSp delSp modSp mod">
        <pc:chgData name="Mariagisella Giorgiani" userId="a7fe563e-347f-468d-94db-89d821bb8dc3" providerId="ADAL" clId="{196FAF26-15D0-54FD-9E98-CD296B6F88F1}" dt="2026-09-24T21:08:38.467" v="17" actId="26606"/>
        <pc:sldMkLst>
          <pc:docMk/>
          <pc:sldMk cId="1133419805" sldId="256"/>
        </pc:sldMkLst>
        <pc:spChg chg="add del">
          <ac:chgData name="Mariagisella Giorgiani" userId="a7fe563e-347f-468d-94db-89d821bb8dc3" providerId="ADAL" clId="{196FAF26-15D0-54FD-9E98-CD296B6F88F1}" dt="2026-09-24T20:46:13.835" v="7" actId="26606"/>
          <ac:spMkLst>
            <pc:docMk/>
            <pc:sldMk cId="1133419805" sldId="256"/>
            <ac:spMk id="15" creationId="{42A4FC2C-047E-45A5-965D-8E1E3BF09BC6}"/>
          </ac:spMkLst>
        </pc:spChg>
        <pc:spChg chg="add del">
          <ac:chgData name="Mariagisella Giorgiani" userId="a7fe563e-347f-468d-94db-89d821bb8dc3" providerId="ADAL" clId="{196FAF26-15D0-54FD-9E98-CD296B6F88F1}" dt="2026-09-24T20:48:52.613" v="11" actId="26606"/>
          <ac:spMkLst>
            <pc:docMk/>
            <pc:sldMk cId="1133419805" sldId="256"/>
            <ac:spMk id="20" creationId="{42A4FC2C-047E-45A5-965D-8E1E3BF09BC6}"/>
          </ac:spMkLst>
        </pc:spChg>
        <pc:spChg chg="add del">
          <ac:chgData name="Mariagisella Giorgiani" userId="a7fe563e-347f-468d-94db-89d821bb8dc3" providerId="ADAL" clId="{196FAF26-15D0-54FD-9E98-CD296B6F88F1}" dt="2026-09-24T20:59:02.700" v="14" actId="26606"/>
          <ac:spMkLst>
            <pc:docMk/>
            <pc:sldMk cId="1133419805" sldId="256"/>
            <ac:spMk id="25" creationId="{42A4FC2C-047E-45A5-965D-8E1E3BF09BC6}"/>
          </ac:spMkLst>
        </pc:spChg>
        <pc:spChg chg="add del">
          <ac:chgData name="Mariagisella Giorgiani" userId="a7fe563e-347f-468d-94db-89d821bb8dc3" providerId="ADAL" clId="{196FAF26-15D0-54FD-9E98-CD296B6F88F1}" dt="2026-09-24T21:08:38.467" v="17" actId="26606"/>
          <ac:spMkLst>
            <pc:docMk/>
            <pc:sldMk cId="1133419805" sldId="256"/>
            <ac:spMk id="30" creationId="{42A4FC2C-047E-45A5-965D-8E1E3BF09BC6}"/>
          </ac:spMkLst>
        </pc:spChg>
        <pc:spChg chg="add">
          <ac:chgData name="Mariagisella Giorgiani" userId="a7fe563e-347f-468d-94db-89d821bb8dc3" providerId="ADAL" clId="{196FAF26-15D0-54FD-9E98-CD296B6F88F1}" dt="2026-09-24T21:08:38.467" v="17" actId="26606"/>
          <ac:spMkLst>
            <pc:docMk/>
            <pc:sldMk cId="1133419805" sldId="256"/>
            <ac:spMk id="35" creationId="{42A4FC2C-047E-45A5-965D-8E1E3BF09BC6}"/>
          </ac:spMkLst>
        </pc:spChg>
        <pc:picChg chg="add mod">
          <ac:chgData name="Mariagisella Giorgiani" userId="a7fe563e-347f-468d-94db-89d821bb8dc3" providerId="ADAL" clId="{196FAF26-15D0-54FD-9E98-CD296B6F88F1}" dt="2026-09-24T21:08:38.467" v="17" actId="26606"/>
          <ac:picMkLst>
            <pc:docMk/>
            <pc:sldMk cId="1133419805" sldId="256"/>
            <ac:picMk id="2" creationId="{2025EE5A-5049-96DC-92AD-C4683A9EE96C}"/>
          </ac:picMkLst>
        </pc:picChg>
        <pc:picChg chg="add del mod">
          <ac:chgData name="Mariagisella Giorgiani" userId="a7fe563e-347f-468d-94db-89d821bb8dc3" providerId="ADAL" clId="{196FAF26-15D0-54FD-9E98-CD296B6F88F1}" dt="2026-09-24T20:45:32.473" v="4" actId="478"/>
          <ac:picMkLst>
            <pc:docMk/>
            <pc:sldMk cId="1133419805" sldId="256"/>
            <ac:picMk id="3" creationId="{BB0861F0-E693-109D-2863-0EB9E98A6920}"/>
          </ac:picMkLst>
        </pc:picChg>
        <pc:picChg chg="add del mod">
          <ac:chgData name="Mariagisella Giorgiani" userId="a7fe563e-347f-468d-94db-89d821bb8dc3" providerId="ADAL" clId="{196FAF26-15D0-54FD-9E98-CD296B6F88F1}" dt="2026-09-24T20:49:14.979" v="12" actId="478"/>
          <ac:picMkLst>
            <pc:docMk/>
            <pc:sldMk cId="1133419805" sldId="256"/>
            <ac:picMk id="3" creationId="{CA3E9E40-733E-00FC-2E6E-FF288E2F73F5}"/>
          </ac:picMkLst>
        </pc:picChg>
        <pc:picChg chg="add del mod">
          <ac:chgData name="Mariagisella Giorgiani" userId="a7fe563e-347f-468d-94db-89d821bb8dc3" providerId="ADAL" clId="{196FAF26-15D0-54FD-9E98-CD296B6F88F1}" dt="2026-09-24T20:48:43.269" v="8" actId="478"/>
          <ac:picMkLst>
            <pc:docMk/>
            <pc:sldMk cId="1133419805" sldId="256"/>
            <ac:picMk id="4" creationId="{CD931226-3567-88B0-DDE3-81598DCE91B6}"/>
          </ac:picMkLst>
        </pc:picChg>
        <pc:picChg chg="add del mod">
          <ac:chgData name="Mariagisella Giorgiani" userId="a7fe563e-347f-468d-94db-89d821bb8dc3" providerId="ADAL" clId="{196FAF26-15D0-54FD-9E98-CD296B6F88F1}" dt="2026-09-24T21:07:44.892" v="15" actId="478"/>
          <ac:picMkLst>
            <pc:docMk/>
            <pc:sldMk cId="1133419805" sldId="256"/>
            <ac:picMk id="5" creationId="{9F1D8117-3B0B-5AB2-41C7-94A5DAB99331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edge"/>
          <c:yMode val="edge"/>
          <c:x val="0.05"/>
          <c:y val="0.23"/>
          <c:w val="0.94"/>
          <c:h val="0.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Consumption</c:v>
                </c:pt>
              </c:strCache>
            </c:strRef>
          </c:tx>
          <c:spPr>
            <a:solidFill>
              <a:srgbClr val="9AA5B8"/>
            </a:solidFill>
          </c:spPr>
          <c:dLbls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numFmt formatCode="0.0" sourceLinked="0"/>
            <c:txPr>
              <a:bodyPr/>
              <a:lstStyle/>
              <a:p>
                <a:pPr>
                  <a:defRPr sz="700">
                    <a:solidFill>
                      <a:srgbClr val="0E2841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  <c:pt idx="6">
                  <c:v>Oct 26</c:v>
                </c:pt>
                <c:pt idx="7">
                  <c:v>Nov 26</c:v>
                </c:pt>
                <c:pt idx="8">
                  <c:v>Dec 26</c:v>
                </c:pt>
                <c:pt idx="9">
                  <c:v>Jan 27</c:v>
                </c:pt>
                <c:pt idx="10">
                  <c:v>Feb 27</c:v>
                </c:pt>
                <c:pt idx="11">
                  <c:v>Mar 27</c:v>
                </c:pt>
                <c:pt idx="12">
                  <c:v>Apr 27</c:v>
                </c:pt>
                <c:pt idx="13">
                  <c:v>May 27</c:v>
                </c:pt>
                <c:pt idx="14">
                  <c:v>Jun 27</c:v>
                </c:pt>
                <c:pt idx="15">
                  <c:v>Jul 27</c:v>
                </c:pt>
                <c:pt idx="16">
                  <c:v>Aug 27</c:v>
                </c:pt>
                <c:pt idx="17">
                  <c:v>Sep 27</c:v>
                </c:pt>
                <c:pt idx="18">
                  <c:v>Oct 27</c:v>
                </c:pt>
                <c:pt idx="19">
                  <c:v>Nov 27</c:v>
                </c:pt>
              </c:strCache>
            </c:strRef>
          </c:cat>
          <c:val>
            <c:numRef>
              <c:f>Sheet1!$B$2:$B$21</c:f>
              <c:numCache>
                <c:formatCode>0.0</c:formatCode>
                <c:ptCount val="20"/>
                <c:pt idx="0">
                  <c:v>2.1</c:v>
                </c:pt>
                <c:pt idx="1">
                  <c:v>2.9</c:v>
                </c:pt>
                <c:pt idx="2">
                  <c:v>3.6</c:v>
                </c:pt>
                <c:pt idx="3">
                  <c:v>4.4</c:v>
                </c:pt>
                <c:pt idx="4">
                  <c:v>4.9</c:v>
                </c:pt>
                <c:pt idx="5">
                  <c:v>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Planned Consumption</c:v>
                </c:pt>
              </c:strCache>
            </c:strRef>
          </c:tx>
          <c:spPr>
            <a:solidFill>
              <a:srgbClr val="F9C9B0"/>
            </a:solidFill>
          </c:spP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0.0" sourceLinked="0"/>
            <c:txPr>
              <a:bodyPr/>
              <a:lstStyle/>
              <a:p>
                <a:pPr>
                  <a:defRPr sz="700">
                    <a:solidFill>
                      <a:srgbClr val="0E2841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Sheet1!$A$2:$A$21</c:f>
              <c:strCache>
                <c:ptCount val="20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  <c:pt idx="6">
                  <c:v>Oct 26</c:v>
                </c:pt>
                <c:pt idx="7">
                  <c:v>Nov 26</c:v>
                </c:pt>
                <c:pt idx="8">
                  <c:v>Dec 26</c:v>
                </c:pt>
                <c:pt idx="9">
                  <c:v>Jan 27</c:v>
                </c:pt>
                <c:pt idx="10">
                  <c:v>Feb 27</c:v>
                </c:pt>
                <c:pt idx="11">
                  <c:v>Mar 27</c:v>
                </c:pt>
                <c:pt idx="12">
                  <c:v>Apr 27</c:v>
                </c:pt>
                <c:pt idx="13">
                  <c:v>May 27</c:v>
                </c:pt>
                <c:pt idx="14">
                  <c:v>Jun 27</c:v>
                </c:pt>
                <c:pt idx="15">
                  <c:v>Jul 27</c:v>
                </c:pt>
                <c:pt idx="16">
                  <c:v>Aug 27</c:v>
                </c:pt>
                <c:pt idx="17">
                  <c:v>Sep 27</c:v>
                </c:pt>
                <c:pt idx="18">
                  <c:v>Oct 27</c:v>
                </c:pt>
                <c:pt idx="19">
                  <c:v>Nov 27</c:v>
                </c:pt>
              </c:strCache>
            </c:strRef>
          </c:cat>
          <c:val>
            <c:numRef>
              <c:f>Sheet1!$C$2:$C$21</c:f>
              <c:numCache>
                <c:formatCode>0.0</c:formatCode>
                <c:ptCount val="20"/>
                <c:pt idx="0">
                  <c:v>2.0</c:v>
                </c:pt>
                <c:pt idx="1">
                  <c:v>2.8</c:v>
                </c:pt>
                <c:pt idx="2">
                  <c:v>3.8</c:v>
                </c:pt>
                <c:pt idx="3">
                  <c:v>4.8</c:v>
                </c:pt>
                <c:pt idx="4">
                  <c:v>5.6</c:v>
                </c:pt>
                <c:pt idx="5">
                  <c:v>6.5</c:v>
                </c:pt>
                <c:pt idx="6">
                  <c:v>6.8</c:v>
                </c:pt>
                <c:pt idx="7">
                  <c:v>7.0</c:v>
                </c:pt>
                <c:pt idx="8">
                  <c:v>7.2</c:v>
                </c:pt>
                <c:pt idx="9">
                  <c:v>7.4</c:v>
                </c:pt>
                <c:pt idx="10">
                  <c:v>7.6</c:v>
                </c:pt>
                <c:pt idx="11">
                  <c:v>7.8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8.0</c:v>
                </c:pt>
                <c:pt idx="16">
                  <c:v>8.0</c:v>
                </c:pt>
                <c:pt idx="17">
                  <c:v>8.0</c:v>
                </c:pt>
                <c:pt idx="18">
                  <c:v>8.0</c:v>
                </c:pt>
                <c:pt idx="19">
                  <c:v>8.0</c:v>
                </c:pt>
              </c:numCache>
            </c:numRef>
          </c:val>
        </c:ser>
        <c:gapWidth val="4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Monthly Commitment (8.0M)</c:v>
                </c:pt>
              </c:strCache>
            </c:strRef>
          </c:tx>
          <c:spPr>
            <a:ln w="22225">
              <a:solidFill>
                <a:srgbClr val="E97132"/>
              </a:solidFill>
              <a:prstDash val="dash"/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Apr 26</c:v>
                </c:pt>
                <c:pt idx="1">
                  <c:v>May 26</c:v>
                </c:pt>
                <c:pt idx="2">
                  <c:v>Jun 26</c:v>
                </c:pt>
                <c:pt idx="3">
                  <c:v>Jul 26</c:v>
                </c:pt>
                <c:pt idx="4">
                  <c:v>Aug 26</c:v>
                </c:pt>
                <c:pt idx="5">
                  <c:v>Sep 26</c:v>
                </c:pt>
                <c:pt idx="6">
                  <c:v>Oct 26</c:v>
                </c:pt>
                <c:pt idx="7">
                  <c:v>Nov 26</c:v>
                </c:pt>
                <c:pt idx="8">
                  <c:v>Dec 26</c:v>
                </c:pt>
                <c:pt idx="9">
                  <c:v>Jan 27</c:v>
                </c:pt>
                <c:pt idx="10">
                  <c:v>Feb 27</c:v>
                </c:pt>
                <c:pt idx="11">
                  <c:v>Mar 27</c:v>
                </c:pt>
                <c:pt idx="12">
                  <c:v>Apr 27</c:v>
                </c:pt>
                <c:pt idx="13">
                  <c:v>May 27</c:v>
                </c:pt>
                <c:pt idx="14">
                  <c:v>Jun 27</c:v>
                </c:pt>
                <c:pt idx="15">
                  <c:v>Jul 27</c:v>
                </c:pt>
                <c:pt idx="16">
                  <c:v>Aug 27</c:v>
                </c:pt>
                <c:pt idx="17">
                  <c:v>Sep 27</c:v>
                </c:pt>
                <c:pt idx="18">
                  <c:v>Oct 27</c:v>
                </c:pt>
                <c:pt idx="19">
                  <c:v>Nov 27</c:v>
                </c:pt>
              </c:strCache>
            </c:strRef>
          </c:cat>
          <c:val>
            <c:numRef>
              <c:f>Sheet1!$D$2:$D$21</c:f>
              <c:numCache>
                <c:formatCode>0.0</c:formatCode>
                <c:ptCount val="20"/>
                <c:pt idx="0">
                  <c:v>8.0</c:v>
                </c:pt>
                <c:pt idx="1">
                  <c:v>8.0</c:v>
                </c:pt>
                <c:pt idx="2">
                  <c:v>8.0</c:v>
                </c:pt>
                <c:pt idx="3">
                  <c:v>8.0</c:v>
                </c:pt>
                <c:pt idx="4">
                  <c:v>8.0</c:v>
                </c:pt>
                <c:pt idx="5">
                  <c:v>8.0</c:v>
                </c:pt>
                <c:pt idx="6">
                  <c:v>8.0</c:v>
                </c:pt>
                <c:pt idx="7">
                  <c:v>8.0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8.0</c:v>
                </c:pt>
                <c:pt idx="12">
                  <c:v>8.0</c:v>
                </c:pt>
                <c:pt idx="13">
                  <c:v>8.0</c:v>
                </c:pt>
                <c:pt idx="14">
                  <c:v>8.0</c:v>
                </c:pt>
                <c:pt idx="15">
                  <c:v>8.0</c:v>
                </c:pt>
                <c:pt idx="16">
                  <c:v>8.0</c:v>
                </c:pt>
                <c:pt idx="17">
                  <c:v>8.0</c:v>
                </c:pt>
                <c:pt idx="18">
                  <c:v>8.0</c:v>
                </c:pt>
                <c:pt idx="19">
                  <c:v>8.0</c:v>
                </c:pt>
              </c:numCache>
            </c:numRef>
          </c:val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EC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6"/>
          <c:min val="0.0"/>
        </c:scaling>
        <c:delete val="0"/>
        <c:axPos val="l"/>
        <c:majorGridlines>
          <c:spPr>
            <a:ln>
              <a:solidFill>
                <a:srgbClr val="DDE3EC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800">
          <a:solidFill>
            <a:srgbClr val="6B7A8F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1E02F-BFCD-E857-8550-3D7F0650E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9D4FF-9B76-EF69-0D3D-1815FAF2A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E663C-E7CF-C4E8-8BE2-D5FC29BA0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12594-FC0D-BB00-D61E-9580D5B6C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C6E97-24E6-8609-71C9-5C029DE8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87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CDD3-A013-A209-FAC8-0B6C3EFA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0EECC-45C3-D9A0-A582-DE204B676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5781F-598A-A873-9392-3D5992D8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DA6A0-3858-8678-C88A-F488833CB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28DDD-3F4F-3D05-B550-98B0ACEE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9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4BC02-C41F-245E-7A5A-E6F18A5F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1EAB0-FAC5-5499-135B-C790C91D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F85C7-32F0-EBD9-9A4B-6C7515EB4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C2AC8-620B-D667-F585-2B97BE746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49FA5-E4DA-AF77-0079-4C284DE74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27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9F021-3590-BBA1-5278-9630B01D1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22CB2-7D59-25CC-DC44-24A99DB1BD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20892-BC26-4CD1-FFAD-893C77F59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3A040-4E87-15C6-956C-789C6315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5E659-28A6-6AA2-250B-4E29566DE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D59DF-7681-45DC-C709-BC3617695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65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E328-1BEB-0CA0-195C-C53691B97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CA3F4-8446-C3B5-82C3-2210107B6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15C82-FF4E-7E71-8C8E-7F6C6D558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83885-55B4-7CB9-5053-D84BD9A54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0F4485-54B5-F834-0912-49DC0F8A1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B35F4-2FD2-4678-936F-DAB927486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4999D4-9080-CF66-2A42-C61FC0445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49785-A7F4-296D-3259-8465F6B0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38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6121B-1781-7BE1-6711-2AF126CDA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D0BBC-10A9-F716-8B09-C1E3AA9E5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88E3B-3F2B-FAAC-05DA-AF81313E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3A753-2216-8FA4-14BF-FD85D3EC9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06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41407C-825A-7B2D-FDEF-D0B281740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BDFAE5-DB09-7B56-B1FB-097B2CF54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E9DAF-DD8F-D7A6-84D1-A53E77A9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57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BCB3-32D3-C291-813C-4E23807C4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877D3-0958-731B-2733-0EF31E5C2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E5162-41FC-0504-874F-AAC18EC33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9166D-5F03-24CA-6AB8-33DA10258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9DE60-7B36-D36F-EA32-D55ABCF3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FDCAF-BDF8-C144-A29A-CD7544186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87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14E5-CE3F-1E2F-5AD2-4A7283625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7288A6-7ACA-EBB2-3EE6-250DC6EF886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6DF3C-FD90-77C8-7A2E-D6FF9BFFF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E2BBF-BAE6-6837-9EDC-C7A64C0D3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C92BFD-4850-C422-2BFF-5CC289C2C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24E28-D523-8A1C-F613-E7413526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83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5671B-9048-0DBC-76D4-F86C4138F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40FF0-6A59-80A7-5EE9-988E2CC32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8B3EA-D022-BBC3-9641-0BCFF0B47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961F5-27D1-1F89-C9BF-A587C0292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437B0-4489-D838-25D9-3E60030AF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6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0C25D2-2912-A225-3ABC-B7720056B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075E4E-E357-7211-92CB-5583EE9BE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0EE45-24B9-D82D-4C3A-FA3019054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C20E7-E999-D396-A593-873B68122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AD47F-0BD5-F77D-1BF3-1EF4693FE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251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AAA69-F20C-2259-7B56-315D07F9C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9E191-7FB7-023F-3C26-E2F1A853E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6E2E4-64F3-7E32-8A54-ABB1E2A81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EA266-548C-0540-9A2F-496F1C9B25EC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8B1A4-5866-8F83-4734-166CEE2D1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7076C-A786-E1F3-7E22-21CCD2348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5A35A-5B19-3942-9657-58526D82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6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E2841"/>
                </a:solidFill>
              </a:rPr>
              <a:t>ACME Corporation </a:t>
            </a:r>
            <a:r>
              <a:rPr sz="2200" b="1">
                <a:solidFill>
                  <a:srgbClr val="E97132"/>
                </a:solidFill>
              </a:rPr>
              <a:t>— Token Utilisation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76656"/>
            <a:ext cx="7223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8F"/>
                </a:solidFill>
              </a:rPr>
              <a:t>A clear plan to reach and sustain monthly token utilisation through contract expiration.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109728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DE8E4"/>
          </a:solidFill>
          <a:ln w="9525">
            <a:solidFill>
              <a:srgbClr val="D930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26679" y="347472"/>
            <a:ext cx="384048" cy="384048"/>
          </a:xfrm>
          <a:prstGeom prst="ellipse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02168" y="1554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E2841"/>
                </a:solidFill>
              </a:rPr>
              <a:t>Behind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2168" y="5029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D93025"/>
                </a:solidFill>
              </a:rPr>
              <a:t>-1.2M tokens | -18.5% vs plan</a:t>
            </a:r>
          </a:p>
          <a:p>
            <a:pPr algn="l"/>
            <a:r>
              <a:rPr sz="800" b="0">
                <a:solidFill>
                  <a:srgbClr val="6B7A8F"/>
                </a:solidFill>
              </a:rPr>
              <a:t>Sep 2026 actual vs planned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128016"/>
            <a:ext cx="1371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A8F"/>
                </a:solidFill>
              </a:rPr>
              <a:t>Contract End Date</a:t>
            </a:r>
          </a:p>
          <a:p>
            <a:pPr algn="l"/>
            <a:r>
              <a:rPr sz="1200" b="1">
                <a:solidFill>
                  <a:srgbClr val="0E2841"/>
                </a:solidFill>
              </a:rPr>
              <a:t>Nov 30, 2027</a:t>
            </a:r>
          </a:p>
          <a:p>
            <a:pPr algn="l"/>
            <a:r>
              <a:rPr sz="800" b="0">
                <a:solidFill>
                  <a:srgbClr val="6B7A8F"/>
                </a:solidFill>
              </a:rPr>
              <a:t>Current Period</a:t>
            </a:r>
          </a:p>
          <a:p>
            <a:pPr algn="l"/>
            <a:r>
              <a:rPr sz="1100" b="1">
                <a:solidFill>
                  <a:srgbClr val="0E2841"/>
                </a:solidFill>
              </a:rPr>
              <a:t>Sep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97280"/>
            <a:ext cx="1833829" cy="960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61288"/>
            <a:ext cx="1614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E2841"/>
                </a:solidFill>
              </a:rPr>
              <a:t>Monthly Token Commitment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463040"/>
            <a:ext cx="16143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2841"/>
                </a:solidFill>
              </a:rPr>
              <a:t>8.0M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801368"/>
            <a:ext cx="161437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A8F"/>
                </a:solidFill>
              </a:rPr>
              <a:t>tokens per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63597" y="1097280"/>
            <a:ext cx="1833829" cy="960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3325" y="1161288"/>
            <a:ext cx="1614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E2841"/>
                </a:solidFill>
              </a:rPr>
              <a:t>Sep 2026 Planned Consumption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3325" y="1463040"/>
            <a:ext cx="16143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2841"/>
                </a:solidFill>
              </a:rPr>
              <a:t>6.5M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3325" y="1801368"/>
            <a:ext cx="161437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A8F"/>
                </a:solidFill>
              </a:rPr>
              <a:t>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7154" y="1097280"/>
            <a:ext cx="1833829" cy="960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6882" y="1161288"/>
            <a:ext cx="1614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E2841"/>
                </a:solidFill>
              </a:rPr>
              <a:t>Sep 2026 Actual Consumption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6882" y="1463040"/>
            <a:ext cx="16143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2841"/>
                </a:solidFill>
              </a:rPr>
              <a:t>5.3M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6882" y="1801368"/>
            <a:ext cx="161437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A8F"/>
                </a:solidFill>
              </a:rPr>
              <a:t>tokens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0711" y="1097280"/>
            <a:ext cx="1833829" cy="960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0439" y="1161288"/>
            <a:ext cx="1614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E2841"/>
                </a:solidFill>
              </a:rPr>
              <a:t>Variance to Plan (Sep 2026)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0439" y="1463040"/>
            <a:ext cx="16143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93025"/>
                </a:solidFill>
              </a:rPr>
              <a:t>-1.2M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0439" y="1801368"/>
            <a:ext cx="161437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A8F"/>
                </a:solidFill>
              </a:rPr>
              <a:t>tokens (-18.5%)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4268" y="1097280"/>
            <a:ext cx="1833829" cy="960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3996" y="1161288"/>
            <a:ext cx="1614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E2841"/>
                </a:solidFill>
              </a:rPr>
              <a:t>Current Monthly Utilisation (Sep 2026)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1463040"/>
            <a:ext cx="16143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2841"/>
                </a:solidFill>
              </a:rPr>
              <a:t>66%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3996" y="1801368"/>
            <a:ext cx="161437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A8F"/>
                </a:solidFill>
              </a:rPr>
              <a:t>5.3M / 8.0M tokens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3996" y="1993392"/>
            <a:ext cx="1614373" cy="32004"/>
          </a:xfrm>
          <a:prstGeom prst="roundRect">
            <a:avLst>
              <a:gd name="adj" fmla="val 50000"/>
            </a:avLst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03996" y="1993392"/>
            <a:ext cx="1069522" cy="3200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37826" y="1097280"/>
            <a:ext cx="1833829" cy="9601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7554" y="1161288"/>
            <a:ext cx="16143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E2841"/>
                </a:solidFill>
              </a:rPr>
              <a:t>Months Remaining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7554" y="1463040"/>
            <a:ext cx="161437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E2841"/>
                </a:solidFill>
              </a:rPr>
              <a:t>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7554" y="1801368"/>
            <a:ext cx="161437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A8F"/>
                </a:solidFill>
              </a:rPr>
              <a:t>Oct 2026 – Nov 2027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2167128"/>
            <a:ext cx="1154887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258568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E2841"/>
                </a:solidFill>
              </a:rPr>
              <a:t>Our Path to Sustained Utilisation</a:t>
            </a:r>
          </a:p>
        </p:txBody>
      </p:sp>
      <p:sp>
        <p:nvSpPr>
          <p:cNvPr id="37" name="Pentagon 36"/>
          <p:cNvSpPr/>
          <p:nvPr/>
        </p:nvSpPr>
        <p:spPr>
          <a:xfrm>
            <a:off x="1874519" y="2240280"/>
            <a:ext cx="2487168" cy="566928"/>
          </a:xfrm>
          <a:prstGeom prst="homePlate">
            <a:avLst>
              <a:gd name="adj" fmla="val 25000"/>
            </a:avLst>
          </a:prstGeom>
          <a:solidFill>
            <a:srgbClr val="FDE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2286000"/>
            <a:ext cx="16184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E97132"/>
                </a:solidFill>
              </a:rPr>
              <a:t>1. ACTIVATE</a:t>
            </a:r>
          </a:p>
          <a:p>
            <a:pPr algn="l"/>
            <a:r>
              <a:rPr sz="850" b="0">
                <a:solidFill>
                  <a:srgbClr val="0E2841"/>
                </a:solidFill>
              </a:rPr>
              <a:t>Launch priority use cases and drive initial adoption</a:t>
            </a:r>
          </a:p>
        </p:txBody>
      </p:sp>
      <p:sp>
        <p:nvSpPr>
          <p:cNvPr id="39" name="Chevron 38"/>
          <p:cNvSpPr/>
          <p:nvPr/>
        </p:nvSpPr>
        <p:spPr>
          <a:xfrm>
            <a:off x="4251960" y="2240280"/>
            <a:ext cx="2487168" cy="566928"/>
          </a:xfrm>
          <a:prstGeom prst="chevron">
            <a:avLst>
              <a:gd name="adj" fmla="val 25000"/>
            </a:avLst>
          </a:prstGeom>
          <a:solidFill>
            <a:srgbClr val="E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2286000"/>
            <a:ext cx="16184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6A5ACD"/>
                </a:solidFill>
              </a:rPr>
              <a:t>2. SCALE</a:t>
            </a:r>
          </a:p>
          <a:p>
            <a:pPr algn="l"/>
            <a:r>
              <a:rPr sz="850" b="0">
                <a:solidFill>
                  <a:srgbClr val="0E2841"/>
                </a:solidFill>
              </a:rPr>
              <a:t>Increase usage across teams and channels</a:t>
            </a:r>
          </a:p>
        </p:txBody>
      </p:sp>
      <p:sp>
        <p:nvSpPr>
          <p:cNvPr id="41" name="Chevron 40"/>
          <p:cNvSpPr/>
          <p:nvPr/>
        </p:nvSpPr>
        <p:spPr>
          <a:xfrm>
            <a:off x="6629400" y="2240280"/>
            <a:ext cx="2487168" cy="566928"/>
          </a:xfrm>
          <a:prstGeom prst="chevron">
            <a:avLst>
              <a:gd name="adj" fmla="val 25000"/>
            </a:avLst>
          </a:prstGeom>
          <a:solidFill>
            <a:srgbClr val="E1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2286000"/>
            <a:ext cx="16184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0F9ED5"/>
                </a:solidFill>
              </a:rPr>
              <a:t>3. EXPAND</a:t>
            </a:r>
          </a:p>
          <a:p>
            <a:pPr algn="l"/>
            <a:r>
              <a:rPr sz="850" b="0">
                <a:solidFill>
                  <a:srgbClr val="0E2841"/>
                </a:solidFill>
              </a:rPr>
              <a:t>Add workloads, teams and products</a:t>
            </a:r>
          </a:p>
        </p:txBody>
      </p:sp>
      <p:sp>
        <p:nvSpPr>
          <p:cNvPr id="43" name="Chevron 42"/>
          <p:cNvSpPr/>
          <p:nvPr/>
        </p:nvSpPr>
        <p:spPr>
          <a:xfrm>
            <a:off x="9006840" y="2240280"/>
            <a:ext cx="2487168" cy="566928"/>
          </a:xfrm>
          <a:prstGeom prst="chevron">
            <a:avLst>
              <a:gd name="adj" fmla="val 25000"/>
            </a:avLst>
          </a:prstGeom>
          <a:solidFill>
            <a:srgbClr val="DD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2286000"/>
            <a:ext cx="161848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4B8A6"/>
                </a:solidFill>
              </a:rPr>
              <a:t>4. OPTIMIZE</a:t>
            </a:r>
          </a:p>
          <a:p>
            <a:pPr algn="l"/>
            <a:r>
              <a:rPr sz="850" b="0">
                <a:solidFill>
                  <a:srgbClr val="0E2841"/>
                </a:solidFill>
              </a:rPr>
              <a:t>Sustain utilisation and maximize value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" y="2971800"/>
            <a:ext cx="11548872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0358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</a:rPr>
              <a:t>Monthly Token Consumption vs Plan (Tokens in Millions)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0787" y="3602736"/>
            <a:ext cx="534201" cy="1207007"/>
          </a:xfrm>
          <a:prstGeom prst="roundRect">
            <a:avLst>
              <a:gd name="adj" fmla="val 5000"/>
            </a:avLst>
          </a:prstGeom>
          <a:solidFill>
            <a:srgbClr val="FFF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422187" y="3529584"/>
            <a:ext cx="991401" cy="182880"/>
          </a:xfrm>
          <a:prstGeom prst="roundRect">
            <a:avLst>
              <a:gd name="adj" fmla="val 40000"/>
            </a:avLst>
          </a:prstGeom>
          <a:solidFill>
            <a:srgbClr val="F5C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700" b="1">
                <a:solidFill>
                  <a:srgbClr val="0E2841"/>
                </a:solidFill>
              </a:rPr>
              <a:t>Current Month</a:t>
            </a:r>
          </a:p>
        </p:txBody>
      </p:sp>
      <p:graphicFrame>
        <p:nvGraphicFramePr>
          <p:cNvPr id="49" name="Chart 48"/>
          <p:cNvGraphicFramePr>
            <a:graphicFrameLocks noGrp="1"/>
          </p:cNvGraphicFramePr>
          <p:nvPr/>
        </p:nvGraphicFramePr>
        <p:xfrm>
          <a:off x="411479" y="3291840"/>
          <a:ext cx="11365992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0" name="Rounded Rectangle 49"/>
          <p:cNvSpPr/>
          <p:nvPr/>
        </p:nvSpPr>
        <p:spPr>
          <a:xfrm>
            <a:off x="320040" y="5257800"/>
            <a:ext cx="7680960" cy="1344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31266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</a:rPr>
              <a:t>Use Case Activation Plan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0240" y="5568696"/>
            <a:ext cx="99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E2841"/>
                </a:solidFill>
              </a:rPr>
              <a:t>Q3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18460" y="5568696"/>
            <a:ext cx="99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E2841"/>
                </a:solidFill>
              </a:rPr>
              <a:t>Q4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16680" y="5568696"/>
            <a:ext cx="99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E2841"/>
                </a:solidFill>
              </a:rPr>
              <a:t>Q1 2027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14900" y="5568696"/>
            <a:ext cx="99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E2841"/>
                </a:solidFill>
              </a:rPr>
              <a:t>Q2 2027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13120" y="5568696"/>
            <a:ext cx="99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E2841"/>
                </a:solidFill>
              </a:rPr>
              <a:t>Q3 2027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11340" y="5568696"/>
            <a:ext cx="9982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0E2841"/>
                </a:solidFill>
              </a:rPr>
              <a:t>Q4 2027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806440"/>
            <a:ext cx="1417320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0E2841"/>
                </a:solidFill>
              </a:rPr>
              <a:t>STA</a:t>
            </a:r>
          </a:p>
        </p:txBody>
      </p:sp>
      <p:sp>
        <p:nvSpPr>
          <p:cNvPr id="59" name="Pentagon 58"/>
          <p:cNvSpPr/>
          <p:nvPr/>
        </p:nvSpPr>
        <p:spPr>
          <a:xfrm>
            <a:off x="1920240" y="5843016"/>
            <a:ext cx="970788" cy="173735"/>
          </a:xfrm>
          <a:prstGeom prst="homePlate">
            <a:avLst>
              <a:gd name="adj" fmla="val 30000"/>
            </a:avLst>
          </a:prstGeom>
          <a:solidFill>
            <a:srgbClr val="FB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00" b="0">
                <a:solidFill>
                  <a:srgbClr val="0E2841"/>
                </a:solidFill>
              </a:rPr>
              <a:t>Pilot</a:t>
            </a:r>
          </a:p>
        </p:txBody>
      </p:sp>
      <p:sp>
        <p:nvSpPr>
          <p:cNvPr id="60" name="Pentagon 59"/>
          <p:cNvSpPr/>
          <p:nvPr/>
        </p:nvSpPr>
        <p:spPr>
          <a:xfrm>
            <a:off x="2918460" y="5843016"/>
            <a:ext cx="1969008" cy="173735"/>
          </a:xfrm>
          <a:prstGeom prst="homePlate">
            <a:avLst>
              <a:gd name="adj" fmla="val 30000"/>
            </a:avLst>
          </a:prstGeom>
          <a:solidFill>
            <a:srgbClr val="FB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00" b="0">
                <a:solidFill>
                  <a:srgbClr val="0E2841"/>
                </a:solidFill>
              </a:rPr>
              <a:t>Rollout</a:t>
            </a:r>
          </a:p>
        </p:txBody>
      </p:sp>
      <p:sp>
        <p:nvSpPr>
          <p:cNvPr id="61" name="Pentagon 60"/>
          <p:cNvSpPr/>
          <p:nvPr/>
        </p:nvSpPr>
        <p:spPr>
          <a:xfrm>
            <a:off x="4914900" y="5843016"/>
            <a:ext cx="2634488" cy="173735"/>
          </a:xfrm>
          <a:prstGeom prst="homePlate">
            <a:avLst>
              <a:gd name="adj" fmla="val 30000"/>
            </a:avLst>
          </a:prstGeom>
          <a:solidFill>
            <a:srgbClr val="FBD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00" b="0">
                <a:solidFill>
                  <a:srgbClr val="0E2841"/>
                </a:solidFill>
              </a:rPr>
              <a:t>Enterprise adoption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053327"/>
            <a:ext cx="1417320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0E2841"/>
                </a:solidFill>
              </a:rPr>
              <a:t>AI Summary</a:t>
            </a:r>
          </a:p>
        </p:txBody>
      </p:sp>
      <p:sp>
        <p:nvSpPr>
          <p:cNvPr id="63" name="Pentagon 62"/>
          <p:cNvSpPr/>
          <p:nvPr/>
        </p:nvSpPr>
        <p:spPr>
          <a:xfrm>
            <a:off x="1920240" y="6089903"/>
            <a:ext cx="970788" cy="173735"/>
          </a:xfrm>
          <a:prstGeom prst="homePlate">
            <a:avLst>
              <a:gd name="adj" fmla="val 30000"/>
            </a:avLst>
          </a:prstGeom>
          <a:solidFill>
            <a:srgbClr val="DDD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00" b="0">
                <a:solidFill>
                  <a:srgbClr val="0E2841"/>
                </a:solidFill>
              </a:rPr>
              <a:t>Design</a:t>
            </a:r>
          </a:p>
        </p:txBody>
      </p:sp>
      <p:sp>
        <p:nvSpPr>
          <p:cNvPr id="64" name="Pentagon 63"/>
          <p:cNvSpPr/>
          <p:nvPr/>
        </p:nvSpPr>
        <p:spPr>
          <a:xfrm>
            <a:off x="2918460" y="6089903"/>
            <a:ext cx="1969008" cy="173735"/>
          </a:xfrm>
          <a:prstGeom prst="homePlate">
            <a:avLst>
              <a:gd name="adj" fmla="val 30000"/>
            </a:avLst>
          </a:prstGeom>
          <a:solidFill>
            <a:srgbClr val="DDD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00" b="0">
                <a:solidFill>
                  <a:srgbClr val="0E2841"/>
                </a:solidFill>
              </a:rPr>
              <a:t>Pilot</a:t>
            </a:r>
          </a:p>
        </p:txBody>
      </p:sp>
      <p:sp>
        <p:nvSpPr>
          <p:cNvPr id="65" name="Pentagon 64"/>
          <p:cNvSpPr/>
          <p:nvPr/>
        </p:nvSpPr>
        <p:spPr>
          <a:xfrm>
            <a:off x="4914900" y="6089903"/>
            <a:ext cx="2634488" cy="173735"/>
          </a:xfrm>
          <a:prstGeom prst="homePlate">
            <a:avLst>
              <a:gd name="adj" fmla="val 30000"/>
            </a:avLst>
          </a:prstGeom>
          <a:solidFill>
            <a:srgbClr val="DDD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00" b="0">
                <a:solidFill>
                  <a:srgbClr val="0E2841"/>
                </a:solidFill>
              </a:rPr>
              <a:t>Scale usage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300216"/>
            <a:ext cx="1417320" cy="2468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0E2841"/>
                </a:solidFill>
              </a:rPr>
              <a:t>AVA</a:t>
            </a:r>
          </a:p>
        </p:txBody>
      </p:sp>
      <p:sp>
        <p:nvSpPr>
          <p:cNvPr id="67" name="Pentagon 66"/>
          <p:cNvSpPr/>
          <p:nvPr/>
        </p:nvSpPr>
        <p:spPr>
          <a:xfrm>
            <a:off x="1920240" y="6336792"/>
            <a:ext cx="1969008" cy="173735"/>
          </a:xfrm>
          <a:prstGeom prst="homePlate">
            <a:avLst>
              <a:gd name="adj" fmla="val 30000"/>
            </a:avLst>
          </a:prstGeom>
          <a:solidFill>
            <a:srgbClr val="C8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00" b="0">
                <a:solidFill>
                  <a:srgbClr val="0E2841"/>
                </a:solidFill>
              </a:rPr>
              <a:t>Pilot</a:t>
            </a:r>
          </a:p>
        </p:txBody>
      </p:sp>
      <p:sp>
        <p:nvSpPr>
          <p:cNvPr id="68" name="Pentagon 67"/>
          <p:cNvSpPr/>
          <p:nvPr/>
        </p:nvSpPr>
        <p:spPr>
          <a:xfrm>
            <a:off x="3916680" y="6336792"/>
            <a:ext cx="3632708" cy="173735"/>
          </a:xfrm>
          <a:prstGeom prst="homePlate">
            <a:avLst>
              <a:gd name="adj" fmla="val 30000"/>
            </a:avLst>
          </a:prstGeom>
          <a:solidFill>
            <a:srgbClr val="C8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800" b="0">
                <a:solidFill>
                  <a:srgbClr val="0E2841"/>
                </a:solidFill>
              </a:rPr>
              <a:t>Scale to additional intents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92440" y="5257800"/>
            <a:ext cx="3776472" cy="1344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600" y="531266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</a:rPr>
              <a:t>Key Focus Areas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29600" y="5632704"/>
            <a:ext cx="45720" cy="234695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66760" y="5605272"/>
            <a:ext cx="3364991" cy="3261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0E2841"/>
                </a:solidFill>
              </a:rPr>
              <a:t>Close the short-term gap</a:t>
            </a:r>
          </a:p>
          <a:p>
            <a:pPr algn="l"/>
            <a:r>
              <a:rPr sz="700" b="0">
                <a:solidFill>
                  <a:srgbClr val="6B7A8F"/>
                </a:solidFill>
              </a:rPr>
              <a:t>Actual is below plan in the current month; recover through the planned actions.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29600" y="5958840"/>
            <a:ext cx="45720" cy="234695"/>
          </a:xfrm>
          <a:prstGeom prst="roundRect">
            <a:avLst>
              <a:gd name="adj" fmla="val 50000"/>
            </a:avLst>
          </a:prstGeom>
          <a:solidFill>
            <a:srgbClr val="6A5A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66760" y="5931408"/>
            <a:ext cx="3364991" cy="3261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0E2841"/>
                </a:solidFill>
              </a:rPr>
              <a:t>Accelerate use case adoption</a:t>
            </a:r>
          </a:p>
          <a:p>
            <a:pPr algn="l"/>
            <a:r>
              <a:rPr sz="700" b="0">
                <a:solidFill>
                  <a:srgbClr val="6B7A8F"/>
                </a:solidFill>
              </a:rPr>
              <a:t>Drive the supplied use cases across additional teams.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229600" y="6284976"/>
            <a:ext cx="45720" cy="234695"/>
          </a:xfrm>
          <a:prstGeom prst="roundRect">
            <a:avLst>
              <a:gd name="adj" fmla="val 50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66760" y="6257544"/>
            <a:ext cx="3364991" cy="32613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0E2841"/>
                </a:solidFill>
              </a:rPr>
              <a:t>Sustain monthly utilisation</a:t>
            </a:r>
          </a:p>
          <a:p>
            <a:pPr algn="l"/>
            <a:r>
              <a:rPr sz="700" b="0">
                <a:solidFill>
                  <a:srgbClr val="6B7A8F"/>
                </a:solidFill>
              </a:rPr>
              <a:t>Reach and maintain the monthly commitment through contract end.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0040" y="6629400"/>
            <a:ext cx="1152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6B7A8F"/>
                </a:solidFill>
              </a:rPr>
              <a:t>ILLUSTRATIVE SAMPLE DATA for testing the skill - not real customer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Mariagisella Giorgiani</dc:creator>
  <cp:lastModifiedBy>Mariagisella Giorgiani</cp:lastModifiedBy>
  <cp:revision>1</cp:revision>
  <dcterms:created xsi:type="dcterms:W3CDTF">2026-09-18T20:51:38Z</dcterms:created>
  <dcterms:modified xsi:type="dcterms:W3CDTF">2026-09-24T21:08:39Z</dcterms:modified>
</cp:coreProperties>
</file>